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98C793"/>
          </a:solidFill>
          <a:ln w="12700">
            <a:solidFill>
              <a:srgbClr val="98C79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16200000">
            <a:off x="-21488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 &amp; Engineering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Irrigation Controller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Sweta T (24CSR316)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Tharun R (24CSR323)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Anandhakrishna J (24ECR013)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Subiraj B (24ECR0__)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2743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K. Dinesh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(Associate Professor)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98C793"/>
          </a:solidFill>
          <a:ln w="12700">
            <a:solidFill>
              <a:srgbClr val="98C7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 rot="16200000">
            <a:off x="-21488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686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Irrigation is still decided by eye, causing wasted water (over-irrigation) or crop stress (under-irrigation). Soil moisture alone is reactive: it ignores incoming rain and how fast the crop loses water. The proposed Intelligent Irrigation Controller: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Predicts irrigation need from soil moisture, real weather data and evapotranspiration (ET) computed with the FAO-56 Penman-Monteith equation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Automates the valve from an ESP32 edge node reading a 7-in-1 RS485 NPK probe, closing the loop locally with a fail-safe rule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Gives the operator a dashboard with schedules, water-stress alerts and per-zone nutrient guidance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a two-stage gradient-boosted model: decide whether to irrigate, then how deep, with a cost-weighted operating point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Secondary outputs: crop disease-risk, NPK fertiliser dose and yield estimates from the same reading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2 (Zero Hunger), SDG 6 (Clean Water and Sanitation), SDG 12 (Responsible Consumption and Production)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98C793"/>
          </a:solidFill>
          <a:ln w="12700">
            <a:solidFill>
              <a:srgbClr val="98C79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16200000">
            <a:off x="-21488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00584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DCEEDC"/>
          </a:solidFill>
          <a:ln w="12700">
            <a:solidFill>
              <a:srgbClr val="DCEE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Challenges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5448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published systems are reactive: no forecast, no evapotranspiration term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Noisy, intermittent soil readings amplify into large irrigation errors on deep root zones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Fuzzy or rule-only schedulers need site-specific tuning and cannot transfer between districts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public dataset pairs NPK soil telemetry with confirmed crop disease, so disease models are hard to validate honestly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Edge-only or cloud-only designs trade accuracy against latency and uptime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DCEEDC"/>
          </a:solidFill>
          <a:ln w="12700">
            <a:solidFill>
              <a:srgbClr val="DCEE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55448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moisture plus real satellite meteorology plus a validated FAO-56 ET0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Two-stage gradient boosting: irrigation decision, then irrigation depth in mm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Forward soil water balance simulation over real weather, plus probe-noise injection and causal temporal smoothing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valve control with a live operator dashboard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Disease risk, NPK dose and yield as add-on insights from the same reading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98C793"/>
          </a:solidFill>
          <a:ln w="12700">
            <a:solidFill>
              <a:srgbClr val="98C79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16200000">
            <a:off x="-21488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and SDG Relevance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23444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irrigation requirement from real soil moisture, NASA POWER meteorology and FAO-56 evapotranspiration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 valve control from an ESP32 edge node with a 7-in-1 RS485 NPK probe and a latching solenoid, fail-safe on loss of link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 an operator dashboard with zone schedules, water-stress alerts and nutrient guidance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disease risk, fertiliser dose and yield as additional insights, with an explicit statement of what each figure does and does not mean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Relevance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2 – Zero Hunger: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 productivity and food security.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6 – Clean Water and Sanitation: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raise water-use efficiency through predictive irrigation.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12 – Responsible Consumption and Production: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conserve water and reduce agricultural losses.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98C793"/>
          </a:solidFill>
          <a:ln w="12700">
            <a:solidFill>
              <a:srgbClr val="98C79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16200000">
            <a:off x="-21488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DCEEDC"/>
          </a:solidFill>
          <a:ln w="12700">
            <a:solidFill>
              <a:srgbClr val="4C8C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078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Data Collection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463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years of daily meteorology from NASA POWER (12 stations, 43,836 days) plus 7-in-1 NPK soil telemetry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0058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DCEEDC"/>
          </a:solidFill>
          <a:ln w="12700">
            <a:solidFill>
              <a:srgbClr val="4C8C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1078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Feature Engineering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862072" y="1463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FAO-56 ET0, soil water deficit, wetness ratio, crop stress index, causal 3- and 7-day trend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DCEEDC"/>
          </a:solidFill>
          <a:ln w="12700">
            <a:solidFill>
              <a:srgbClr val="4C8C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9472" y="1078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Stress Synthesis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19472" y="1463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Forward soil water balance integrated over the real weather record; hysteresis irrigation rule; physically derived targets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0058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DCEEDC"/>
          </a:solidFill>
          <a:ln w="12700">
            <a:solidFill>
              <a:srgbClr val="4C8C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6872" y="10789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Irrigation Planning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1463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Applied depth in mm, pump runtime, deficit and excess risk levels per zone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DCEEDC"/>
          </a:solidFill>
          <a:ln w="12700">
            <a:solidFill>
              <a:srgbClr val="4C8C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2907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Data Augmentation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Probe measurement-noise injection, per-zone nutrient drawdown, rainfall gap handling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28346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DCEEDC"/>
          </a:solidFill>
          <a:ln w="12700">
            <a:solidFill>
              <a:srgbClr val="4C8C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62072" y="2907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Model Training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862072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models: gradient-boosted classifiers and regressors; two-stage irrigate/depth design; cost-tuned decision threshold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DCEEDC"/>
          </a:solidFill>
          <a:ln w="12700">
            <a:solidFill>
              <a:srgbClr val="4C8C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19472" y="2907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Evaluation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919472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Stratified grouped split on unseen field series, plus a fully held-out station; macro F1, MAE, R², permutation importance, latency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283464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4C8C4A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976872" y="2907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976872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Depth and volume, valve runtime, soil-water trend, stress and nutrient alerts, disease risk,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98C793"/>
          </a:solidFill>
          <a:ln w="12700">
            <a:solidFill>
              <a:srgbClr val="98C79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16200000">
            <a:off x="-21488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Approach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 Used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7160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temperature, relative humidity, wind speed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moisture, plus 3- and 7-day mean and trend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pH and electrical conductivity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Nitrogen, phosphorus, potassium (mg/kg)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 intensity (lux) and rainfall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 stress index, derived from the above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Configured: crop, soil class, root depth, field capacity, field area; from weather: ET0 and Kc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Models: HistGradientBoosting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7160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 classifier: irrigate or hold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2 regressor: depth in mm, on irrigation events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max_iter 220/260, max_depth 8, lr 0.07-0.09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min_samples_leaf 30-40, L2 0.6-1.0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Threshold tuned 3:1 toward missed irrigation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Disease F1 0.908, depth MAE 1.05 mm (R2 0.963), &lt;0.01 ms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98C793"/>
          </a:solidFill>
          <a:ln w="12700">
            <a:solidFill>
              <a:srgbClr val="98C79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 rot="16200000">
            <a:off x="-21488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D6EFD6"/>
          </a:solidFill>
          <a:ln w="12700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0972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7-in-1 RS485 NPK probe + air temperature, humidity and lux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88920" y="10972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D6E6F5"/>
          </a:solidFill>
          <a:ln w="12700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834640" y="10972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POWER daily meteorology, 12 stations, 2015-2024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2CC"/>
          </a:solidFill>
          <a:ln w="12700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92040" y="10972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FAO-56 ET0, soil water deficit, wetness ratio, stress index, 3- and 7-day trend features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03720" y="10972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D8F0F5"/>
          </a:solidFill>
          <a:ln w="12700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949440" y="109728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soil water balance simulation over real weather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D6EFD6"/>
          </a:solidFill>
          <a:ln w="12700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gradient boosting, grouped and unseen-station evaluation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88920" y="28346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0CF"/>
          </a:solidFill>
          <a:ln w="12700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2834640" y="28346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Irrigation decision + depth in mm + valve runtime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6DDF5"/>
          </a:solidFill>
          <a:ln w="12700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4892040" y="28346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ESP32 -&gt; relay -&gt; latching solenoid valve, fail-safe on link loss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03720" y="283464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D6E6F5"/>
          </a:solidFill>
          <a:ln w="12700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949440" y="28346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WebSocket -&gt; React dashboard: schedules, alerts, what-if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↓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480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Feedback loop: the probe re-measures after the valve closes, and the next cycle starts from the new state. Secondary branch off the model: disease risk, NPK dose and yield.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98C793"/>
          </a:solidFill>
          <a:ln w="12700">
            <a:solidFill>
              <a:srgbClr val="98C79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16200000">
            <a:off x="-21488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91440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R. G. Allen, L. S. Pereira, D. Raes and M. Smith, "Crop evapotranspiration: guidelines for computing crop water requirements," FAO Irrigation and Drainage Paper 56, Rome, 1998.  (Source of the ET0, soil water balance and Kc equations.)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NASA Prediction of Worldwide Energy Resources (POWER) Project, daily agroclimatology point API, 12 stations, 2015-2024. https://power.larc.nasa.gov/docs/services/api/temporal/daily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G. Saha et al., "Smart IoT-driven precision agriculture: Land mapping, crop prediction, and irrigation system," PLOS ONE, vol. 20, no. 3, e0319268, Mar. 2025.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F. Z. Bassine et al., "Recent applications of machine learning, remote sensing, and IoT approaches in yield prediction: a critical review," arXiv:2306.04566, Jun. 2023.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V. H. U. Eze et al., "Integrating IoT sensors and machine learning for sustainable precision agroecology," Discover Agriculture, vol. 3, Art. 83, May 2025.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2026-09-28T04:13:43Z</dcterms:created>
  <dcterms:modified xsi:type="dcterms:W3CDTF">2026-09-28T04:13:43Z</dcterms:modified>
</cp:coreProperties>
</file>